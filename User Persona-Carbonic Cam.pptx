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46022-25D7-B767-FDF5-D8CDB8CA3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A8118-7815-AC11-0623-A28DB03F6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0510E-7ABB-CAF0-576C-7BCC51160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7FD5F-F835-4921-A7F6-038A6DA031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64C10-AFD5-A6BC-06E1-762B7180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13349-095A-E335-9F3C-EFAF7F9C4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7E049-6B79-4623-94FD-144F51191F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073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A219-BF3D-F7FA-8EF2-B3CB09A78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A5E81-291F-5D57-6F20-C47CE58EE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9816D-E321-6B1E-03EF-D7052B9B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7FD5F-F835-4921-A7F6-038A6DA031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4883A-F55A-7DAD-E5FA-0555F621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A498-9970-1D51-F7D5-3447991ED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7E049-6B79-4623-94FD-144F51191F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306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E6E3-CF6A-0D59-72F1-28590D06E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0DF0-6EB9-6BDA-754C-85744DEFD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00647-9BDA-9798-5D24-62056CA37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7FD5F-F835-4921-A7F6-038A6DA031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4A596-2992-A05F-3E8D-6913DE41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DF1AD-F6A5-316E-8190-00146D2E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7E049-6B79-4623-94FD-144F51191F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169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26495-9CD5-737D-3A93-BF78C716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4CE1D-623F-DF78-2D2D-489AA8A1F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F142C-C34E-6607-5005-7955F1F24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0A5BF-274F-363F-1E03-21F83E2CA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7FD5F-F835-4921-A7F6-038A6DA031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15EEC-9AB3-FB87-57BC-EAC6D9385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2C50C-68AF-A52B-5C33-F8145A753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7E049-6B79-4623-94FD-144F51191F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99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AF2B1-CE28-5554-2754-A881B6CB3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E0A6E-5822-AC7D-46E8-A9A508E87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24552-87F2-802C-7E83-C6F4236FC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BFF712-F609-79FB-367B-130A7C002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30FF53-5A00-50F0-DBF1-06A94871DA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D0474F-5E59-834C-C8D9-D0122EE2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7FD5F-F835-4921-A7F6-038A6DA031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52961-F659-47F8-7C38-4AB29EB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447085-F114-8D3F-2355-15EE856B2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7E049-6B79-4623-94FD-144F51191F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895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89E28-3D10-84F4-472C-6BC3FF9D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9E9A2-F6C7-9D31-C90A-3F86DFAA3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7FD5F-F835-4921-A7F6-038A6DA031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26BD5-814D-9512-D9E6-B6C6FA8B5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51BF0-9A20-4BC0-A45B-61EA81341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7E049-6B79-4623-94FD-144F51191F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794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092A7-50E1-521D-386A-2A7428392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7FD5F-F835-4921-A7F6-038A6DA031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0299B9-005A-5542-4B43-5F8107AD0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415B2-B26D-9070-FF20-F022CE78E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7E049-6B79-4623-94FD-144F51191F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453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3C06-D8F4-65AF-A67E-6DF8382B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DF9DE-4E48-24AE-FACB-0E2465659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906CB-DC63-FFA0-6BD8-EDE2EE9D5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4CB54-1913-4A8B-9F22-7D875B67F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7FD5F-F835-4921-A7F6-038A6DA031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4F77D-7725-41B1-2AA5-1AD4E5E68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1EC78-DC24-365E-B682-78787AC5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7E049-6B79-4623-94FD-144F51191F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001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E6B2-F9CD-E6FD-09A2-7D4057A78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9F39D-2647-0404-BF6F-19F18A450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912D0-A63A-167A-C542-E28EC6BF8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2AE78-79F1-B6ED-927E-27E100FA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7FD5F-F835-4921-A7F6-038A6DA031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4E65E-680B-2B94-E600-894CCBFC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94A3F-64A6-126F-61E2-2D0932BEB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7E049-6B79-4623-94FD-144F51191F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890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52CE5-BE8B-C9AE-505D-DC579B406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E6FDAD-F2FE-241A-A7A0-B13D528FF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F3EE6-6D41-6ABB-CA04-673ADBCFF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7FD5F-F835-4921-A7F6-038A6DA031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44BD3-A166-BA6C-E28B-C82288771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F6AEE-B646-C623-E063-8F5B87A5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7E049-6B79-4623-94FD-144F51191F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49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F13AE9-5E93-087B-FA0C-27D96F8EF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A3A62-F13E-D92D-31DF-A80CD4EFC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14231-8D01-2B44-5DE8-429DA94AB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7FD5F-F835-4921-A7F6-038A6DA031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579B3-C316-4849-50E9-81A9F98A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6E776-EAE3-A64A-2201-841B09A9B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7E049-6B79-4623-94FD-144F51191F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47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CD92D8-1328-A7C3-68AF-DC6703C21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34DB5-AA7C-AB43-560B-19D5F8E9E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A9B38-2ED0-5C47-2518-6C7E9D1AC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7FD5F-F835-4921-A7F6-038A6DA031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D8C3B-C54E-6379-10E1-D2FA23CAD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975C-5366-3B03-104B-90CA3A12E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7E049-6B79-4623-94FD-144F51191F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21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D0E8BE-0AA9-591B-3A92-44003554331F}"/>
              </a:ext>
            </a:extLst>
          </p:cNvPr>
          <p:cNvSpPr/>
          <p:nvPr/>
        </p:nvSpPr>
        <p:spPr>
          <a:xfrm>
            <a:off x="-904693" y="-1803762"/>
            <a:ext cx="36072" cy="36285"/>
          </a:xfrm>
          <a:custGeom>
            <a:avLst/>
            <a:gdLst/>
            <a:ahLst/>
            <a:cxnLst/>
            <a:rect l="l" t="t" r="r" b="b"/>
            <a:pathLst>
              <a:path w="36072" h="36285"/>
            </a:pathLst>
          </a:custGeom>
          <a:noFill/>
          <a:ln w="38579" cap="flat">
            <a:solidFill>
              <a:srgbClr val="F86834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D6248AB-EA58-32FE-7DE5-8A355A2A0D9F}"/>
              </a:ext>
            </a:extLst>
          </p:cNvPr>
          <p:cNvSpPr/>
          <p:nvPr/>
        </p:nvSpPr>
        <p:spPr>
          <a:xfrm>
            <a:off x="-1" y="0"/>
            <a:ext cx="12258801" cy="1581331"/>
          </a:xfrm>
          <a:custGeom>
            <a:avLst/>
            <a:gdLst>
              <a:gd name="connsiteX0" fmla="*/ 0 w 12258801"/>
              <a:gd name="connsiteY0" fmla="*/ 0 h 1581331"/>
              <a:gd name="connsiteX1" fmla="*/ 12258801 w 12258801"/>
              <a:gd name="connsiteY1" fmla="*/ 0 h 1581331"/>
              <a:gd name="connsiteX2" fmla="*/ 12258801 w 12258801"/>
              <a:gd name="connsiteY2" fmla="*/ 1581332 h 1581331"/>
              <a:gd name="connsiteX3" fmla="*/ 0 w 12258801"/>
              <a:gd name="connsiteY3" fmla="*/ 1581332 h 1581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58801" h="1581331">
                <a:moveTo>
                  <a:pt x="0" y="0"/>
                </a:moveTo>
                <a:lnTo>
                  <a:pt x="12258801" y="0"/>
                </a:lnTo>
                <a:lnTo>
                  <a:pt x="12258801" y="1581332"/>
                </a:lnTo>
                <a:lnTo>
                  <a:pt x="0" y="1581332"/>
                </a:lnTo>
                <a:close/>
              </a:path>
            </a:pathLst>
          </a:custGeom>
          <a:solidFill>
            <a:schemeClr val="accent1"/>
          </a:solidFill>
          <a:ln w="3605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7EDAAF-D893-1654-DF9F-AF84FA0E6810}"/>
              </a:ext>
            </a:extLst>
          </p:cNvPr>
          <p:cNvSpPr/>
          <p:nvPr/>
        </p:nvSpPr>
        <p:spPr>
          <a:xfrm rot="5400000">
            <a:off x="-1573236" y="1563121"/>
            <a:ext cx="6565040" cy="3438797"/>
          </a:xfrm>
          <a:custGeom>
            <a:avLst/>
            <a:gdLst>
              <a:gd name="connsiteX0" fmla="*/ -25 w 6545674"/>
              <a:gd name="connsiteY0" fmla="*/ -50 h 3438797"/>
              <a:gd name="connsiteX1" fmla="*/ 6545650 w 6545674"/>
              <a:gd name="connsiteY1" fmla="*/ -50 h 3438797"/>
              <a:gd name="connsiteX2" fmla="*/ 6545650 w 6545674"/>
              <a:gd name="connsiteY2" fmla="*/ 3438748 h 3438797"/>
              <a:gd name="connsiteX3" fmla="*/ -25 w 6545674"/>
              <a:gd name="connsiteY3" fmla="*/ 3438748 h 343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45674" h="3438797">
                <a:moveTo>
                  <a:pt x="-25" y="-50"/>
                </a:moveTo>
                <a:lnTo>
                  <a:pt x="6545650" y="-50"/>
                </a:lnTo>
                <a:lnTo>
                  <a:pt x="6545650" y="3438748"/>
                </a:lnTo>
                <a:lnTo>
                  <a:pt x="-25" y="3438748"/>
                </a:lnTo>
                <a:close/>
              </a:path>
            </a:pathLst>
          </a:custGeom>
          <a:solidFill>
            <a:schemeClr val="tx2"/>
          </a:solidFill>
          <a:ln w="3605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F874694-4F8B-4A56-DB73-8A5589B48E95}"/>
              </a:ext>
            </a:extLst>
          </p:cNvPr>
          <p:cNvSpPr/>
          <p:nvPr/>
        </p:nvSpPr>
        <p:spPr>
          <a:xfrm>
            <a:off x="4266266" y="6584405"/>
            <a:ext cx="555152" cy="278311"/>
          </a:xfrm>
          <a:custGeom>
            <a:avLst/>
            <a:gdLst>
              <a:gd name="connsiteX0" fmla="*/ 0 w 555152"/>
              <a:gd name="connsiteY0" fmla="*/ 0 h 278311"/>
              <a:gd name="connsiteX1" fmla="*/ 555152 w 555152"/>
              <a:gd name="connsiteY1" fmla="*/ 0 h 278311"/>
              <a:gd name="connsiteX2" fmla="*/ 555152 w 555152"/>
              <a:gd name="connsiteY2" fmla="*/ 278312 h 278311"/>
              <a:gd name="connsiteX3" fmla="*/ 0 w 555152"/>
              <a:gd name="connsiteY3" fmla="*/ 278312 h 27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152" h="278311">
                <a:moveTo>
                  <a:pt x="0" y="0"/>
                </a:moveTo>
                <a:lnTo>
                  <a:pt x="555152" y="0"/>
                </a:lnTo>
                <a:lnTo>
                  <a:pt x="555152" y="278312"/>
                </a:lnTo>
                <a:lnTo>
                  <a:pt x="0" y="278312"/>
                </a:lnTo>
                <a:close/>
              </a:path>
            </a:pathLst>
          </a:custGeom>
          <a:solidFill>
            <a:srgbClr val="72C4DD"/>
          </a:solidFill>
          <a:ln w="3605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latin typeface="Montserrat" panose="00000500000000000000" pitchFamily="2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63A92AD-ABBE-7A9F-8D06-B16EB4A967D4}"/>
              </a:ext>
            </a:extLst>
          </p:cNvPr>
          <p:cNvSpPr txBox="1"/>
          <p:nvPr/>
        </p:nvSpPr>
        <p:spPr>
          <a:xfrm>
            <a:off x="7194789" y="467500"/>
            <a:ext cx="4649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Montserrat" panose="00000500000000000000" pitchFamily="2" charset="0"/>
              </a:rPr>
              <a:t>Customer Persona</a:t>
            </a:r>
            <a:endParaRPr lang="en-IN" sz="3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8688C727-9A61-6109-5630-3308FD29E995}"/>
              </a:ext>
            </a:extLst>
          </p:cNvPr>
          <p:cNvGrpSpPr/>
          <p:nvPr/>
        </p:nvGrpSpPr>
        <p:grpSpPr>
          <a:xfrm>
            <a:off x="390797" y="252377"/>
            <a:ext cx="3153995" cy="2470753"/>
            <a:chOff x="401764" y="303449"/>
            <a:chExt cx="3153995" cy="2470753"/>
          </a:xfrm>
        </p:grpSpPr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1AFD714C-EA0D-4A9D-30A2-CFAC8DD98BCC}"/>
                </a:ext>
              </a:extLst>
            </p:cNvPr>
            <p:cNvSpPr txBox="1"/>
            <p:nvPr/>
          </p:nvSpPr>
          <p:spPr>
            <a:xfrm>
              <a:off x="401764" y="303449"/>
              <a:ext cx="28929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NANCY NEWBIE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7E41A5FE-6AE1-A6C6-895D-7BF28BF1ADF2}"/>
                </a:ext>
              </a:extLst>
            </p:cNvPr>
            <p:cNvSpPr txBox="1"/>
            <p:nvPr/>
          </p:nvSpPr>
          <p:spPr>
            <a:xfrm>
              <a:off x="423792" y="1581331"/>
              <a:ext cx="2064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Age:</a:t>
              </a:r>
              <a:r>
                <a:rPr lang="ar-EG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600" dirty="0"/>
                <a:t>24</a:t>
              </a:r>
              <a:endParaRPr lang="en-GB" sz="1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7465A372-43E1-25CA-039D-3092F1CC040D}"/>
                </a:ext>
              </a:extLst>
            </p:cNvPr>
            <p:cNvSpPr txBox="1"/>
            <p:nvPr/>
          </p:nvSpPr>
          <p:spPr>
            <a:xfrm>
              <a:off x="401764" y="1207560"/>
              <a:ext cx="31539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Name: </a:t>
              </a:r>
              <a:r>
                <a:rPr lang="en-US" sz="1600" dirty="0"/>
                <a:t>Sara Mahmoud</a:t>
              </a:r>
              <a:endParaRPr lang="en-GB" sz="1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AB81D2DB-522C-D53E-A80F-66B0FF0A2C37}"/>
                </a:ext>
              </a:extLst>
            </p:cNvPr>
            <p:cNvSpPr txBox="1"/>
            <p:nvPr/>
          </p:nvSpPr>
          <p:spPr>
            <a:xfrm>
              <a:off x="423792" y="1943205"/>
              <a:ext cx="20647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Occupation: </a:t>
              </a:r>
              <a:r>
                <a:rPr lang="en-US" sz="1600" dirty="0"/>
                <a:t>Junior Marketing Specialist</a:t>
              </a:r>
            </a:p>
            <a:p>
              <a:endParaRPr lang="en-GB" sz="1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211" name="TextBox 210">
            <a:extLst>
              <a:ext uri="{FF2B5EF4-FFF2-40B4-BE49-F238E27FC236}">
                <a16:creationId xmlns:a16="http://schemas.microsoft.com/office/drawing/2014/main" id="{55993745-6447-9854-2842-8004DC078C5F}"/>
              </a:ext>
            </a:extLst>
          </p:cNvPr>
          <p:cNvSpPr txBox="1"/>
          <p:nvPr/>
        </p:nvSpPr>
        <p:spPr>
          <a:xfrm>
            <a:off x="390797" y="807144"/>
            <a:ext cx="24046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DESIGNING TEAM MANAGER</a:t>
            </a:r>
            <a:endParaRPr lang="en-IN" sz="11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1825E601-BB77-5365-B2CB-C928E0D1B136}"/>
              </a:ext>
            </a:extLst>
          </p:cNvPr>
          <p:cNvGrpSpPr/>
          <p:nvPr/>
        </p:nvGrpSpPr>
        <p:grpSpPr>
          <a:xfrm>
            <a:off x="4758640" y="2035674"/>
            <a:ext cx="7085322" cy="4784578"/>
            <a:chOff x="4758640" y="2004059"/>
            <a:chExt cx="7085322" cy="4784578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789C91-8362-A77E-8DBA-B6E47E776BB7}"/>
                </a:ext>
              </a:extLst>
            </p:cNvPr>
            <p:cNvSpPr/>
            <p:nvPr/>
          </p:nvSpPr>
          <p:spPr>
            <a:xfrm>
              <a:off x="8302393" y="4190999"/>
              <a:ext cx="3407747" cy="2186940"/>
            </a:xfrm>
            <a:custGeom>
              <a:avLst/>
              <a:gdLst>
                <a:gd name="connsiteX0" fmla="*/ 0 w 3407747"/>
                <a:gd name="connsiteY0" fmla="*/ 0 h 2186940"/>
                <a:gd name="connsiteX1" fmla="*/ 3407748 w 3407747"/>
                <a:gd name="connsiteY1" fmla="*/ 0 h 2186940"/>
                <a:gd name="connsiteX2" fmla="*/ 3407748 w 3407747"/>
                <a:gd name="connsiteY2" fmla="*/ 2186940 h 2186940"/>
                <a:gd name="connsiteX3" fmla="*/ 0 w 3407747"/>
                <a:gd name="connsiteY3" fmla="*/ 2186940 h 2186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7747" h="2186940">
                  <a:moveTo>
                    <a:pt x="0" y="0"/>
                  </a:moveTo>
                  <a:lnTo>
                    <a:pt x="3407748" y="0"/>
                  </a:lnTo>
                  <a:lnTo>
                    <a:pt x="3407748" y="2186940"/>
                  </a:lnTo>
                  <a:lnTo>
                    <a:pt x="0" y="2186940"/>
                  </a:lnTo>
                  <a:close/>
                </a:path>
              </a:pathLst>
            </a:custGeom>
            <a:solidFill>
              <a:schemeClr val="bg1">
                <a:lumMod val="95000"/>
                <a:alpha val="59000"/>
              </a:schemeClr>
            </a:solidFill>
            <a:ln w="3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latin typeface="Montserrat" panose="000005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49FF377-5569-F622-8770-432108036E55}"/>
                </a:ext>
              </a:extLst>
            </p:cNvPr>
            <p:cNvSpPr/>
            <p:nvPr/>
          </p:nvSpPr>
          <p:spPr>
            <a:xfrm>
              <a:off x="4892120" y="2004059"/>
              <a:ext cx="3407747" cy="2186940"/>
            </a:xfrm>
            <a:custGeom>
              <a:avLst/>
              <a:gdLst>
                <a:gd name="connsiteX0" fmla="*/ 0 w 3407747"/>
                <a:gd name="connsiteY0" fmla="*/ 0 h 2186940"/>
                <a:gd name="connsiteX1" fmla="*/ 3407748 w 3407747"/>
                <a:gd name="connsiteY1" fmla="*/ 0 h 2186940"/>
                <a:gd name="connsiteX2" fmla="*/ 3407748 w 3407747"/>
                <a:gd name="connsiteY2" fmla="*/ 2186940 h 2186940"/>
                <a:gd name="connsiteX3" fmla="*/ 0 w 3407747"/>
                <a:gd name="connsiteY3" fmla="*/ 2186940 h 2186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7747" h="2186940">
                  <a:moveTo>
                    <a:pt x="0" y="0"/>
                  </a:moveTo>
                  <a:lnTo>
                    <a:pt x="3407748" y="0"/>
                  </a:lnTo>
                  <a:lnTo>
                    <a:pt x="3407748" y="2186940"/>
                  </a:lnTo>
                  <a:lnTo>
                    <a:pt x="0" y="2186940"/>
                  </a:lnTo>
                  <a:close/>
                </a:path>
              </a:pathLst>
            </a:custGeom>
            <a:solidFill>
              <a:schemeClr val="bg1">
                <a:lumMod val="95000"/>
                <a:alpha val="59000"/>
              </a:schemeClr>
            </a:solidFill>
            <a:ln w="3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Montserrat" panose="00000500000000000000" pitchFamily="2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F71E935-67EE-8C81-34D2-2EABAA4D1C58}"/>
                </a:ext>
              </a:extLst>
            </p:cNvPr>
            <p:cNvSpPr txBox="1"/>
            <p:nvPr/>
          </p:nvSpPr>
          <p:spPr>
            <a:xfrm>
              <a:off x="7514551" y="5144951"/>
              <a:ext cx="184731" cy="256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IN" sz="1065" b="1" spc="0" baseline="0" dirty="0">
                <a:ln/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cs typeface="Arial"/>
                <a:sym typeface="Arial"/>
                <a:rtl val="0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00FEEF99-9020-81CB-6FB7-584A49944A31}"/>
                </a:ext>
              </a:extLst>
            </p:cNvPr>
            <p:cNvSpPr txBox="1"/>
            <p:nvPr/>
          </p:nvSpPr>
          <p:spPr>
            <a:xfrm>
              <a:off x="5023431" y="2266855"/>
              <a:ext cx="1960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Pain points</a:t>
              </a:r>
              <a:endPara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FBA19547-CDF0-4E81-6753-0279CC158F63}"/>
                </a:ext>
              </a:extLst>
            </p:cNvPr>
            <p:cNvSpPr txBox="1"/>
            <p:nvPr/>
          </p:nvSpPr>
          <p:spPr>
            <a:xfrm>
              <a:off x="8414884" y="2266855"/>
              <a:ext cx="1960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Background</a:t>
              </a:r>
              <a:endPara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D6404505-CFF6-9466-4750-6E101ACBE355}"/>
                </a:ext>
              </a:extLst>
            </p:cNvPr>
            <p:cNvSpPr txBox="1"/>
            <p:nvPr/>
          </p:nvSpPr>
          <p:spPr>
            <a:xfrm>
              <a:off x="5012277" y="4448065"/>
              <a:ext cx="2459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App usage</a:t>
              </a:r>
              <a:endPara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6B0E0FA0-FA2A-44D3-C6FE-58F88F32F7A2}"/>
                </a:ext>
              </a:extLst>
            </p:cNvPr>
            <p:cNvSpPr txBox="1"/>
            <p:nvPr/>
          </p:nvSpPr>
          <p:spPr>
            <a:xfrm>
              <a:off x="8403730" y="4448065"/>
              <a:ext cx="1960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Goals &amp; Needs</a:t>
              </a:r>
              <a:endPara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B39FA9BE-7FFB-B468-5F81-5D49F486AD30}"/>
                </a:ext>
              </a:extLst>
            </p:cNvPr>
            <p:cNvSpPr txBox="1"/>
            <p:nvPr/>
          </p:nvSpPr>
          <p:spPr>
            <a:xfrm>
              <a:off x="4758640" y="5201120"/>
              <a:ext cx="342682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 err="1"/>
                <a:t>Oroeco</a:t>
              </a:r>
              <a:r>
                <a:rPr lang="en-US" sz="2000" dirty="0"/>
                <a:t> – to estimate carbon footprint</a:t>
              </a:r>
              <a:endPara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4CB79E3-09CC-6F0B-B25C-61D2A340AC93}"/>
                </a:ext>
              </a:extLst>
            </p:cNvPr>
            <p:cNvSpPr txBox="1"/>
            <p:nvPr/>
          </p:nvSpPr>
          <p:spPr>
            <a:xfrm>
              <a:off x="6526237" y="5674911"/>
              <a:ext cx="867442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I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4D3D39EA-3A1C-9438-7B7B-DA12082ECA94}"/>
                </a:ext>
              </a:extLst>
            </p:cNvPr>
            <p:cNvSpPr txBox="1"/>
            <p:nvPr/>
          </p:nvSpPr>
          <p:spPr>
            <a:xfrm>
              <a:off x="7318024" y="5674911"/>
              <a:ext cx="867442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I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55F398A3-F375-AC53-C0A6-F2A506088019}"/>
                </a:ext>
              </a:extLst>
            </p:cNvPr>
            <p:cNvSpPr txBox="1"/>
            <p:nvPr/>
          </p:nvSpPr>
          <p:spPr>
            <a:xfrm>
              <a:off x="8414884" y="4849645"/>
              <a:ext cx="3295256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Goals :-</a:t>
              </a:r>
            </a:p>
            <a:p>
              <a:r>
                <a:rPr lang="en-US" sz="1200" dirty="0"/>
                <a:t>- Live a more eco-friendly lifestyle.</a:t>
              </a:r>
            </a:p>
            <a:p>
              <a:r>
                <a:rPr lang="en-US" sz="1200" dirty="0"/>
                <a:t>- Track personal sustainability progress.</a:t>
              </a:r>
            </a:p>
            <a:p>
              <a:r>
                <a:rPr lang="en-US" sz="1200" dirty="0"/>
                <a:t>- Reduce waste and carbon emissions.</a:t>
              </a:r>
            </a:p>
            <a:p>
              <a:r>
                <a:rPr lang="en-US" sz="1200" dirty="0"/>
                <a:t>Needs :-</a:t>
              </a:r>
            </a:p>
            <a:p>
              <a:r>
                <a:rPr lang="en-US" sz="1200" dirty="0"/>
                <a:t>- Clear environmental insights</a:t>
              </a:r>
            </a:p>
            <a:p>
              <a:r>
                <a:rPr lang="en-US" sz="1200" dirty="0"/>
                <a:t>- Personalized sustainability tips</a:t>
              </a:r>
            </a:p>
            <a:p>
              <a:r>
                <a:rPr lang="en-US" sz="1200" dirty="0"/>
                <a:t>- A motivating and engaging app experience</a:t>
              </a:r>
            </a:p>
            <a:p>
              <a:endParaRPr lang="en-US" sz="1200" dirty="0"/>
            </a:p>
            <a:p>
              <a:endParaRPr lang="en-US" sz="1200" dirty="0"/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A1C90B9C-6B54-D9FB-D065-04183ED6D8C7}"/>
                </a:ext>
              </a:extLst>
            </p:cNvPr>
            <p:cNvSpPr txBox="1"/>
            <p:nvPr/>
          </p:nvSpPr>
          <p:spPr>
            <a:xfrm>
              <a:off x="4988185" y="2662704"/>
              <a:ext cx="3127115" cy="10767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- Environmental information can be confusing</a:t>
              </a:r>
            </a:p>
            <a:p>
              <a:r>
                <a:rPr lang="en-US" sz="1200" dirty="0"/>
                <a:t>- Hard to measure personal impact</a:t>
              </a:r>
            </a:p>
            <a:p>
              <a:r>
                <a:rPr lang="en-US" sz="1200" dirty="0"/>
                <a:t>- Most eco apps lack engaging features</a:t>
              </a:r>
            </a:p>
            <a:p>
              <a:pPr>
                <a:lnSpc>
                  <a:spcPct val="150000"/>
                </a:lnSpc>
              </a:pP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4338F7F1-B74A-E322-49C4-B988AD88EDCF}"/>
                </a:ext>
              </a:extLst>
            </p:cNvPr>
            <p:cNvSpPr txBox="1"/>
            <p:nvPr/>
          </p:nvSpPr>
          <p:spPr>
            <a:xfrm>
              <a:off x="8418051" y="2672273"/>
              <a:ext cx="342591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Sara follows sustainability topics on social media and tries to reduce waste in her lifestyle. She likes apps that help her track habits and provide useful tips.</a:t>
              </a:r>
            </a:p>
          </p:txBody>
        </p:sp>
      </p:grpSp>
      <p:pic>
        <p:nvPicPr>
          <p:cNvPr id="1026" name="Picture 2" descr="Fashion designer woman working in studio beautiful young female fashion designer sitting at her wor">
            <a:extLst>
              <a:ext uri="{FF2B5EF4-FFF2-40B4-BE49-F238E27FC236}">
                <a16:creationId xmlns:a16="http://schemas.microsoft.com/office/drawing/2014/main" id="{54A70FD5-C95B-6F3C-D377-82B85482DB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30" b="21430"/>
          <a:stretch/>
        </p:blipFill>
        <p:spPr bwMode="auto">
          <a:xfrm>
            <a:off x="362359" y="2605408"/>
            <a:ext cx="3896529" cy="395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5330B94-B57B-8CA7-3BA6-C6E329BD8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Oroeco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estimate carbon footprint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84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F1BE8-293D-6919-071C-D57DFD759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0786DB6-3455-9209-1D86-CA1226184316}"/>
              </a:ext>
            </a:extLst>
          </p:cNvPr>
          <p:cNvSpPr/>
          <p:nvPr/>
        </p:nvSpPr>
        <p:spPr>
          <a:xfrm>
            <a:off x="-904693" y="-1803762"/>
            <a:ext cx="36072" cy="36285"/>
          </a:xfrm>
          <a:custGeom>
            <a:avLst/>
            <a:gdLst/>
            <a:ahLst/>
            <a:cxnLst/>
            <a:rect l="l" t="t" r="r" b="b"/>
            <a:pathLst>
              <a:path w="36072" h="36285"/>
            </a:pathLst>
          </a:custGeom>
          <a:noFill/>
          <a:ln w="38579" cap="flat">
            <a:solidFill>
              <a:srgbClr val="F86834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73E3481-00D9-1F90-4802-F4C9B115436D}"/>
              </a:ext>
            </a:extLst>
          </p:cNvPr>
          <p:cNvSpPr/>
          <p:nvPr/>
        </p:nvSpPr>
        <p:spPr>
          <a:xfrm>
            <a:off x="-1" y="0"/>
            <a:ext cx="12258801" cy="1581331"/>
          </a:xfrm>
          <a:custGeom>
            <a:avLst/>
            <a:gdLst>
              <a:gd name="connsiteX0" fmla="*/ 0 w 12258801"/>
              <a:gd name="connsiteY0" fmla="*/ 0 h 1581331"/>
              <a:gd name="connsiteX1" fmla="*/ 12258801 w 12258801"/>
              <a:gd name="connsiteY1" fmla="*/ 0 h 1581331"/>
              <a:gd name="connsiteX2" fmla="*/ 12258801 w 12258801"/>
              <a:gd name="connsiteY2" fmla="*/ 1581332 h 1581331"/>
              <a:gd name="connsiteX3" fmla="*/ 0 w 12258801"/>
              <a:gd name="connsiteY3" fmla="*/ 1581332 h 1581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58801" h="1581331">
                <a:moveTo>
                  <a:pt x="0" y="0"/>
                </a:moveTo>
                <a:lnTo>
                  <a:pt x="12258801" y="0"/>
                </a:lnTo>
                <a:lnTo>
                  <a:pt x="12258801" y="1581332"/>
                </a:lnTo>
                <a:lnTo>
                  <a:pt x="0" y="1581332"/>
                </a:lnTo>
                <a:close/>
              </a:path>
            </a:pathLst>
          </a:custGeom>
          <a:solidFill>
            <a:schemeClr val="accent1"/>
          </a:solidFill>
          <a:ln w="3605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677A5D6-CB05-F31A-DBB5-B03399D6E7CB}"/>
              </a:ext>
            </a:extLst>
          </p:cNvPr>
          <p:cNvSpPr/>
          <p:nvPr/>
        </p:nvSpPr>
        <p:spPr>
          <a:xfrm rot="5400000">
            <a:off x="-1573236" y="1563121"/>
            <a:ext cx="6565040" cy="3438797"/>
          </a:xfrm>
          <a:custGeom>
            <a:avLst/>
            <a:gdLst>
              <a:gd name="connsiteX0" fmla="*/ -25 w 6545674"/>
              <a:gd name="connsiteY0" fmla="*/ -50 h 3438797"/>
              <a:gd name="connsiteX1" fmla="*/ 6545650 w 6545674"/>
              <a:gd name="connsiteY1" fmla="*/ -50 h 3438797"/>
              <a:gd name="connsiteX2" fmla="*/ 6545650 w 6545674"/>
              <a:gd name="connsiteY2" fmla="*/ 3438748 h 3438797"/>
              <a:gd name="connsiteX3" fmla="*/ -25 w 6545674"/>
              <a:gd name="connsiteY3" fmla="*/ 3438748 h 343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45674" h="3438797">
                <a:moveTo>
                  <a:pt x="-25" y="-50"/>
                </a:moveTo>
                <a:lnTo>
                  <a:pt x="6545650" y="-50"/>
                </a:lnTo>
                <a:lnTo>
                  <a:pt x="6545650" y="3438748"/>
                </a:lnTo>
                <a:lnTo>
                  <a:pt x="-25" y="3438748"/>
                </a:lnTo>
                <a:close/>
              </a:path>
            </a:pathLst>
          </a:custGeom>
          <a:solidFill>
            <a:schemeClr val="tx2"/>
          </a:solidFill>
          <a:ln w="3605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ar-EG" b="1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endParaRPr lang="en-GB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6C014ED-B42C-3480-E260-DB79834A4B86}"/>
              </a:ext>
            </a:extLst>
          </p:cNvPr>
          <p:cNvSpPr/>
          <p:nvPr/>
        </p:nvSpPr>
        <p:spPr>
          <a:xfrm>
            <a:off x="4266266" y="6584405"/>
            <a:ext cx="555152" cy="278311"/>
          </a:xfrm>
          <a:custGeom>
            <a:avLst/>
            <a:gdLst>
              <a:gd name="connsiteX0" fmla="*/ 0 w 555152"/>
              <a:gd name="connsiteY0" fmla="*/ 0 h 278311"/>
              <a:gd name="connsiteX1" fmla="*/ 555152 w 555152"/>
              <a:gd name="connsiteY1" fmla="*/ 0 h 278311"/>
              <a:gd name="connsiteX2" fmla="*/ 555152 w 555152"/>
              <a:gd name="connsiteY2" fmla="*/ 278312 h 278311"/>
              <a:gd name="connsiteX3" fmla="*/ 0 w 555152"/>
              <a:gd name="connsiteY3" fmla="*/ 278312 h 27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152" h="278311">
                <a:moveTo>
                  <a:pt x="0" y="0"/>
                </a:moveTo>
                <a:lnTo>
                  <a:pt x="555152" y="0"/>
                </a:lnTo>
                <a:lnTo>
                  <a:pt x="555152" y="278312"/>
                </a:lnTo>
                <a:lnTo>
                  <a:pt x="0" y="278312"/>
                </a:lnTo>
                <a:close/>
              </a:path>
            </a:pathLst>
          </a:custGeom>
          <a:solidFill>
            <a:srgbClr val="72C4DD"/>
          </a:solidFill>
          <a:ln w="3605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latin typeface="Montserrat" panose="00000500000000000000" pitchFamily="2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B961473-02B4-BBC3-0B90-2AA204D24688}"/>
              </a:ext>
            </a:extLst>
          </p:cNvPr>
          <p:cNvSpPr txBox="1"/>
          <p:nvPr/>
        </p:nvSpPr>
        <p:spPr>
          <a:xfrm>
            <a:off x="7194789" y="467500"/>
            <a:ext cx="4649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Montserrat" panose="00000500000000000000" pitchFamily="2" charset="0"/>
              </a:rPr>
              <a:t>Customer Persona</a:t>
            </a:r>
            <a:endParaRPr lang="en-IN" sz="3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D925F679-B32C-D12A-98E5-2A5D06A5312C}"/>
              </a:ext>
            </a:extLst>
          </p:cNvPr>
          <p:cNvGrpSpPr/>
          <p:nvPr/>
        </p:nvGrpSpPr>
        <p:grpSpPr>
          <a:xfrm>
            <a:off x="412825" y="236667"/>
            <a:ext cx="3153995" cy="2486463"/>
            <a:chOff x="423792" y="287739"/>
            <a:chExt cx="3153995" cy="2486463"/>
          </a:xfrm>
        </p:grpSpPr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5CB876A4-AE6F-5E02-5FFC-57D8CB04C6DC}"/>
                </a:ext>
              </a:extLst>
            </p:cNvPr>
            <p:cNvSpPr txBox="1"/>
            <p:nvPr/>
          </p:nvSpPr>
          <p:spPr>
            <a:xfrm>
              <a:off x="423792" y="287739"/>
              <a:ext cx="28929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NANCY NEWBIE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61E39AF9-D636-FD39-1D20-E87E0837412B}"/>
                </a:ext>
              </a:extLst>
            </p:cNvPr>
            <p:cNvSpPr txBox="1"/>
            <p:nvPr/>
          </p:nvSpPr>
          <p:spPr>
            <a:xfrm>
              <a:off x="423792" y="1581331"/>
              <a:ext cx="2064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Age:</a:t>
              </a:r>
              <a:r>
                <a:rPr lang="ar-EG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600" dirty="0"/>
                <a:t>21</a:t>
              </a:r>
              <a:endParaRPr lang="en-GB" sz="1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359AC4DD-110F-E177-C8E5-BA90397DB693}"/>
                </a:ext>
              </a:extLst>
            </p:cNvPr>
            <p:cNvSpPr txBox="1"/>
            <p:nvPr/>
          </p:nvSpPr>
          <p:spPr>
            <a:xfrm>
              <a:off x="423792" y="1199457"/>
              <a:ext cx="31539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Name: </a:t>
              </a:r>
              <a:r>
                <a:rPr lang="en-US" sz="1600" dirty="0"/>
                <a:t>Ahmed Hassan</a:t>
              </a:r>
            </a:p>
            <a:p>
              <a:endParaRPr lang="en-GB" sz="1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70A7B8BC-4885-4477-03C5-B9AE74CFA99C}"/>
                </a:ext>
              </a:extLst>
            </p:cNvPr>
            <p:cNvSpPr txBox="1"/>
            <p:nvPr/>
          </p:nvSpPr>
          <p:spPr>
            <a:xfrm>
              <a:off x="423792" y="1943205"/>
              <a:ext cx="20647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Occupation: </a:t>
              </a:r>
              <a:r>
                <a:rPr lang="en-US" sz="1600" dirty="0"/>
                <a:t>University Student</a:t>
              </a:r>
            </a:p>
            <a:p>
              <a:endParaRPr lang="en-GB" sz="1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211" name="TextBox 210">
            <a:extLst>
              <a:ext uri="{FF2B5EF4-FFF2-40B4-BE49-F238E27FC236}">
                <a16:creationId xmlns:a16="http://schemas.microsoft.com/office/drawing/2014/main" id="{68A6CAB7-DD9F-1492-8786-18F33C588520}"/>
              </a:ext>
            </a:extLst>
          </p:cNvPr>
          <p:cNvSpPr txBox="1"/>
          <p:nvPr/>
        </p:nvSpPr>
        <p:spPr>
          <a:xfrm>
            <a:off x="390797" y="807144"/>
            <a:ext cx="24046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DESIGNING TEAM MANAGER</a:t>
            </a:r>
            <a:endParaRPr lang="en-IN" sz="11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78AFCF6-A532-9BAE-EA6B-3B9678C04B14}"/>
              </a:ext>
            </a:extLst>
          </p:cNvPr>
          <p:cNvGrpSpPr/>
          <p:nvPr/>
        </p:nvGrpSpPr>
        <p:grpSpPr>
          <a:xfrm>
            <a:off x="4543842" y="2035674"/>
            <a:ext cx="7300120" cy="4969244"/>
            <a:chOff x="4543842" y="2004059"/>
            <a:chExt cx="7300120" cy="4969244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81EB0F7-17B2-1CE2-DEB1-944820B59655}"/>
                </a:ext>
              </a:extLst>
            </p:cNvPr>
            <p:cNvSpPr/>
            <p:nvPr/>
          </p:nvSpPr>
          <p:spPr>
            <a:xfrm>
              <a:off x="8302393" y="4190999"/>
              <a:ext cx="3407747" cy="2186940"/>
            </a:xfrm>
            <a:custGeom>
              <a:avLst/>
              <a:gdLst>
                <a:gd name="connsiteX0" fmla="*/ 0 w 3407747"/>
                <a:gd name="connsiteY0" fmla="*/ 0 h 2186940"/>
                <a:gd name="connsiteX1" fmla="*/ 3407748 w 3407747"/>
                <a:gd name="connsiteY1" fmla="*/ 0 h 2186940"/>
                <a:gd name="connsiteX2" fmla="*/ 3407748 w 3407747"/>
                <a:gd name="connsiteY2" fmla="*/ 2186940 h 2186940"/>
                <a:gd name="connsiteX3" fmla="*/ 0 w 3407747"/>
                <a:gd name="connsiteY3" fmla="*/ 2186940 h 2186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7747" h="2186940">
                  <a:moveTo>
                    <a:pt x="0" y="0"/>
                  </a:moveTo>
                  <a:lnTo>
                    <a:pt x="3407748" y="0"/>
                  </a:lnTo>
                  <a:lnTo>
                    <a:pt x="3407748" y="2186940"/>
                  </a:lnTo>
                  <a:lnTo>
                    <a:pt x="0" y="2186940"/>
                  </a:lnTo>
                  <a:close/>
                </a:path>
              </a:pathLst>
            </a:custGeom>
            <a:solidFill>
              <a:schemeClr val="bg1">
                <a:lumMod val="95000"/>
                <a:alpha val="59000"/>
              </a:schemeClr>
            </a:solidFill>
            <a:ln w="3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latin typeface="Montserrat" panose="000005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9C34BC5-3A2B-9B63-FF24-7B72B33E87B7}"/>
                </a:ext>
              </a:extLst>
            </p:cNvPr>
            <p:cNvSpPr/>
            <p:nvPr/>
          </p:nvSpPr>
          <p:spPr>
            <a:xfrm>
              <a:off x="4892120" y="2004059"/>
              <a:ext cx="3407747" cy="2186940"/>
            </a:xfrm>
            <a:custGeom>
              <a:avLst/>
              <a:gdLst>
                <a:gd name="connsiteX0" fmla="*/ 0 w 3407747"/>
                <a:gd name="connsiteY0" fmla="*/ 0 h 2186940"/>
                <a:gd name="connsiteX1" fmla="*/ 3407748 w 3407747"/>
                <a:gd name="connsiteY1" fmla="*/ 0 h 2186940"/>
                <a:gd name="connsiteX2" fmla="*/ 3407748 w 3407747"/>
                <a:gd name="connsiteY2" fmla="*/ 2186940 h 2186940"/>
                <a:gd name="connsiteX3" fmla="*/ 0 w 3407747"/>
                <a:gd name="connsiteY3" fmla="*/ 2186940 h 2186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7747" h="2186940">
                  <a:moveTo>
                    <a:pt x="0" y="0"/>
                  </a:moveTo>
                  <a:lnTo>
                    <a:pt x="3407748" y="0"/>
                  </a:lnTo>
                  <a:lnTo>
                    <a:pt x="3407748" y="2186940"/>
                  </a:lnTo>
                  <a:lnTo>
                    <a:pt x="0" y="2186940"/>
                  </a:lnTo>
                  <a:close/>
                </a:path>
              </a:pathLst>
            </a:custGeom>
            <a:solidFill>
              <a:schemeClr val="bg1">
                <a:lumMod val="95000"/>
                <a:alpha val="59000"/>
              </a:schemeClr>
            </a:solidFill>
            <a:ln w="3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Montserrat" panose="00000500000000000000" pitchFamily="2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C7A89A3-1A13-9FCD-7021-B53812B4B2BB}"/>
                </a:ext>
              </a:extLst>
            </p:cNvPr>
            <p:cNvSpPr txBox="1"/>
            <p:nvPr/>
          </p:nvSpPr>
          <p:spPr>
            <a:xfrm>
              <a:off x="7514551" y="5144951"/>
              <a:ext cx="184731" cy="256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IN" sz="1065" b="1" spc="0" baseline="0" dirty="0">
                <a:ln/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cs typeface="Arial"/>
                <a:sym typeface="Arial"/>
                <a:rtl val="0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35A28C14-9B11-8ECF-C347-6C79B0BD9EB3}"/>
                </a:ext>
              </a:extLst>
            </p:cNvPr>
            <p:cNvSpPr txBox="1"/>
            <p:nvPr/>
          </p:nvSpPr>
          <p:spPr>
            <a:xfrm>
              <a:off x="5023431" y="2266855"/>
              <a:ext cx="1960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Pain points</a:t>
              </a:r>
              <a:endPara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3D46BB75-EDAC-62CB-E893-9D0FF5438515}"/>
                </a:ext>
              </a:extLst>
            </p:cNvPr>
            <p:cNvSpPr txBox="1"/>
            <p:nvPr/>
          </p:nvSpPr>
          <p:spPr>
            <a:xfrm>
              <a:off x="8414884" y="2266855"/>
              <a:ext cx="1960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Background</a:t>
              </a:r>
              <a:endPara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660EEC61-BF48-1D0F-24BD-D101B48863AD}"/>
                </a:ext>
              </a:extLst>
            </p:cNvPr>
            <p:cNvSpPr txBox="1"/>
            <p:nvPr/>
          </p:nvSpPr>
          <p:spPr>
            <a:xfrm>
              <a:off x="5012277" y="4448065"/>
              <a:ext cx="1960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App usage</a:t>
              </a:r>
              <a:endPara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992CB6FE-BD68-A215-E0C1-A9326D930802}"/>
                </a:ext>
              </a:extLst>
            </p:cNvPr>
            <p:cNvSpPr txBox="1"/>
            <p:nvPr/>
          </p:nvSpPr>
          <p:spPr>
            <a:xfrm>
              <a:off x="8403730" y="4448065"/>
              <a:ext cx="1960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Goals &amp; Needs</a:t>
              </a:r>
              <a:endPara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7BD3E6A6-5947-DE7B-DB65-901DA1CF72AE}"/>
                </a:ext>
              </a:extLst>
            </p:cNvPr>
            <p:cNvSpPr txBox="1"/>
            <p:nvPr/>
          </p:nvSpPr>
          <p:spPr>
            <a:xfrm>
              <a:off x="4543842" y="5187751"/>
              <a:ext cx="31726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No App Usage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E31EE942-C748-27BA-40BF-D2A7BD34FA1D}"/>
                </a:ext>
              </a:extLst>
            </p:cNvPr>
            <p:cNvSpPr txBox="1"/>
            <p:nvPr/>
          </p:nvSpPr>
          <p:spPr>
            <a:xfrm>
              <a:off x="6526237" y="5674911"/>
              <a:ext cx="867442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I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22115932-E881-ECDC-A7D2-7089F1D37CC4}"/>
                </a:ext>
              </a:extLst>
            </p:cNvPr>
            <p:cNvSpPr txBox="1"/>
            <p:nvPr/>
          </p:nvSpPr>
          <p:spPr>
            <a:xfrm>
              <a:off x="7318024" y="5674911"/>
              <a:ext cx="867442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I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A662D929-766A-FD9F-CE6E-AC1B95A9C76B}"/>
                </a:ext>
              </a:extLst>
            </p:cNvPr>
            <p:cNvSpPr txBox="1"/>
            <p:nvPr/>
          </p:nvSpPr>
          <p:spPr>
            <a:xfrm>
              <a:off x="8414884" y="4849645"/>
              <a:ext cx="3295256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Goals :-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/>
                <a:t>Understand how his lifestyle affects the environment.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/>
                <a:t>Reduce his carbon footprint.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/>
                <a:t>Learn sustainable habits.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/>
                <a:t>Compete with friends in challenges.</a:t>
              </a:r>
            </a:p>
            <a:p>
              <a:r>
                <a:rPr lang="en-US" sz="1200" dirty="0"/>
                <a:t>Needs :-</a:t>
              </a:r>
            </a:p>
            <a:p>
              <a:r>
                <a:rPr lang="en-US" sz="1200" dirty="0"/>
                <a:t>- Motivation through challenges and rewards.</a:t>
              </a:r>
            </a:p>
            <a:p>
              <a:r>
                <a:rPr lang="en-US" sz="1200" dirty="0"/>
                <a:t>- Practical eco-friendly recommendations.</a:t>
              </a:r>
            </a:p>
            <a:p>
              <a:r>
                <a:rPr lang="en-US" sz="1200" dirty="0"/>
                <a:t>- Visual and engaging feedback.</a:t>
              </a:r>
            </a:p>
            <a:p>
              <a:endParaRPr lang="en-US" sz="1200" dirty="0"/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9180C09F-3F4E-6C5A-3633-D7C16D6D70D6}"/>
                </a:ext>
              </a:extLst>
            </p:cNvPr>
            <p:cNvSpPr txBox="1"/>
            <p:nvPr/>
          </p:nvSpPr>
          <p:spPr>
            <a:xfrm>
              <a:off x="4988185" y="2662704"/>
              <a:ext cx="3127115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- Hard to measure personal environmental impact</a:t>
              </a:r>
            </a:p>
            <a:p>
              <a:r>
                <a:rPr lang="en-US" sz="1200" dirty="0"/>
                <a:t>- Environmental tools are often complex</a:t>
              </a:r>
            </a:p>
            <a:p>
              <a:r>
                <a:rPr lang="en-US" sz="1200" dirty="0"/>
                <a:t>- Most apps are not interactive or engaging</a:t>
              </a:r>
            </a:p>
            <a:p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1859B748-6C77-FD59-23F2-7CB47C96E5A3}"/>
                </a:ext>
              </a:extLst>
            </p:cNvPr>
            <p:cNvSpPr txBox="1"/>
            <p:nvPr/>
          </p:nvSpPr>
          <p:spPr>
            <a:xfrm>
              <a:off x="8418051" y="2672273"/>
              <a:ext cx="342591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Ahmed is a university student interested in technology and environmental issues. He tries to live more sustainably but lacks tools that help him understand his environmental impact clearly.</a:t>
              </a:r>
            </a:p>
            <a:p>
              <a:endParaRPr lang="en-US" sz="1200" dirty="0"/>
            </a:p>
          </p:txBody>
        </p:sp>
      </p:grpSp>
      <p:pic>
        <p:nvPicPr>
          <p:cNvPr id="2" name="Picture 2" descr="a man in a suit with his arms crossed">
            <a:extLst>
              <a:ext uri="{FF2B5EF4-FFF2-40B4-BE49-F238E27FC236}">
                <a16:creationId xmlns:a16="http://schemas.microsoft.com/office/drawing/2014/main" id="{26DC2F9C-78F6-A79F-1CAD-5569B1B092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14"/>
          <a:stretch/>
        </p:blipFill>
        <p:spPr bwMode="auto">
          <a:xfrm>
            <a:off x="969836" y="2747118"/>
            <a:ext cx="2919772" cy="34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529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4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5596E"/>
      </a:accent1>
      <a:accent2>
        <a:srgbClr val="FDD77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252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Bhavadharani T</dc:creator>
  <cp:lastModifiedBy>Zeyad Eid Ahmed Ahmed Shaheen Shehata</cp:lastModifiedBy>
  <cp:revision>7</cp:revision>
  <dcterms:created xsi:type="dcterms:W3CDTF">2024-09-23T10:30:29Z</dcterms:created>
  <dcterms:modified xsi:type="dcterms:W3CDTF">2026-03-10T04:24:55Z</dcterms:modified>
</cp:coreProperties>
</file>